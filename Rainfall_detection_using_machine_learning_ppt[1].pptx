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9" r:id="rId1"/>
  </p:sldMasterIdLst>
  <p:sldIdLst>
    <p:sldId id="264" r:id="rId2"/>
    <p:sldId id="266" r:id="rId3"/>
    <p:sldId id="267" r:id="rId4"/>
    <p:sldId id="274" r:id="rId5"/>
    <p:sldId id="269" r:id="rId6"/>
    <p:sldId id="273" r:id="rId7"/>
    <p:sldId id="268" r:id="rId8"/>
    <p:sldId id="262" r:id="rId9"/>
    <p:sldId id="272" r:id="rId10"/>
    <p:sldId id="275" r:id="rId11"/>
    <p:sldId id="277" r:id="rId12"/>
    <p:sldId id="27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A1EB"/>
    <a:srgbClr val="C539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53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4218258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244238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745192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C0BD8D-7210-4B9B-95F6-7BC8DFC14D1A}" type="datetimeFigureOut">
              <a:rPr lang="en-IN" smtClean="0"/>
              <a:t>25-06-2024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2854292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C0BD8D-7210-4B9B-95F6-7BC8DFC14D1A}" type="datetimeFigureOut">
              <a:rPr lang="en-IN" smtClean="0"/>
              <a:t>25-06-2024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3572225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C0BD8D-7210-4B9B-95F6-7BC8DFC14D1A}" type="datetimeFigureOut">
              <a:rPr lang="en-IN" smtClean="0"/>
              <a:t>25-06-2024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18714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C0BD8D-7210-4B9B-95F6-7BC8DFC14D1A}" type="datetimeFigureOut">
              <a:rPr lang="en-IN" smtClean="0"/>
              <a:t>25-06-2024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52241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C0BD8D-7210-4B9B-95F6-7BC8DFC14D1A}" type="datetimeFigureOut">
              <a:rPr lang="en-IN" smtClean="0"/>
              <a:t>25-06-2024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357176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0BD8D-7210-4B9B-95F6-7BC8DFC14D1A}" type="datetimeFigureOut">
              <a:rPr lang="en-IN" smtClean="0"/>
              <a:t>25-06-2024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84474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2497204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08197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2002933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896403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1011953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3688919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0BD8D-7210-4B9B-95F6-7BC8DFC14D1A}" type="datetimeFigureOut">
              <a:rPr lang="en-IN" smtClean="0"/>
              <a:t>25-06-2024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B1A3D-FF71-4C9B-B583-363C3E7DD053}" type="slidenum">
              <a:rPr lang="en-IN" smtClean="0"/>
              <a:t>‹#›</a:t>
            </a:fld>
            <a:endParaRPr lang="en-IN"/>
          </a:p>
        </p:txBody>
      </p:sp>
    </p:spTree>
    <p:extLst>
      <p:ext uri="{BB962C8B-B14F-4D97-AF65-F5344CB8AC3E}">
        <p14:creationId xmlns:p14="http://schemas.microsoft.com/office/powerpoint/2010/main" val="3228174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C0BD8D-7210-4B9B-95F6-7BC8DFC14D1A}" type="datetimeFigureOut">
              <a:rPr lang="en-IN" smtClean="0"/>
              <a:t>25-06-2024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5AB1A3D-FF71-4C9B-B583-363C3E7DD053}" type="slidenum">
              <a:rPr lang="en-IN" smtClean="0"/>
              <a:t>‹#›</a:t>
            </a:fld>
            <a:endParaRPr lang="en-IN"/>
          </a:p>
        </p:txBody>
      </p:sp>
    </p:spTree>
    <p:extLst>
      <p:ext uri="{BB962C8B-B14F-4D97-AF65-F5344CB8AC3E}">
        <p14:creationId xmlns:p14="http://schemas.microsoft.com/office/powerpoint/2010/main" val="1099337529"/>
      </p:ext>
    </p:extLst>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 id="2147483961" r:id="rId12"/>
    <p:sldLayoutId id="2147483962" r:id="rId13"/>
    <p:sldLayoutId id="2147483963" r:id="rId14"/>
    <p:sldLayoutId id="2147483964" r:id="rId15"/>
    <p:sldLayoutId id="214748396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60000">
              <a:schemeClr val="accent1">
                <a:lumMod val="45000"/>
                <a:lumOff val="55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25EA5-C8CF-2F6B-2228-1122C2D6A12A}"/>
              </a:ext>
            </a:extLst>
          </p:cNvPr>
          <p:cNvSpPr>
            <a:spLocks noGrp="1"/>
          </p:cNvSpPr>
          <p:nvPr>
            <p:ph type="ctrTitle"/>
          </p:nvPr>
        </p:nvSpPr>
        <p:spPr>
          <a:xfrm>
            <a:off x="489856" y="0"/>
            <a:ext cx="10236609" cy="1012723"/>
          </a:xfrm>
        </p:spPr>
        <p:txBody>
          <a:bodyPr>
            <a:normAutofit fontScale="90000"/>
          </a:bodyPr>
          <a:lstStyle/>
          <a:p>
            <a:pPr algn="l"/>
            <a:r>
              <a:rPr lang="en-US" sz="2800" dirty="0"/>
              <a:t>   </a:t>
            </a:r>
            <a:br>
              <a:rPr lang="en-US" sz="2800" dirty="0"/>
            </a:br>
            <a:br>
              <a:rPr lang="en-US" sz="2800" dirty="0"/>
            </a:br>
            <a:br>
              <a:rPr lang="en-US" sz="2800" dirty="0"/>
            </a:br>
            <a:br>
              <a:rPr lang="en-US" sz="2800" dirty="0"/>
            </a:br>
            <a:br>
              <a:rPr lang="en-US" sz="2800" dirty="0"/>
            </a:br>
            <a:r>
              <a:rPr lang="en-US" sz="3600" dirty="0"/>
              <a:t>     THE NATIONAL DEGREE COLLEGE BAGEPALLI-561207</a:t>
            </a:r>
            <a:endParaRPr lang="en-IN" sz="3600" dirty="0"/>
          </a:p>
        </p:txBody>
      </p:sp>
      <p:sp>
        <p:nvSpPr>
          <p:cNvPr id="3" name="Subtitle 2">
            <a:extLst>
              <a:ext uri="{FF2B5EF4-FFF2-40B4-BE49-F238E27FC236}">
                <a16:creationId xmlns:a16="http://schemas.microsoft.com/office/drawing/2014/main" id="{7FE54293-F918-89DF-E74C-7EC1459F851F}"/>
              </a:ext>
            </a:extLst>
          </p:cNvPr>
          <p:cNvSpPr>
            <a:spLocks noGrp="1"/>
          </p:cNvSpPr>
          <p:nvPr>
            <p:ph type="subTitle" idx="1"/>
          </p:nvPr>
        </p:nvSpPr>
        <p:spPr>
          <a:xfrm>
            <a:off x="393291" y="1219200"/>
            <a:ext cx="10333174" cy="5109788"/>
          </a:xfrm>
        </p:spPr>
        <p:txBody>
          <a:bodyPr>
            <a:normAutofit lnSpcReduction="10000"/>
          </a:bodyPr>
          <a:lstStyle/>
          <a:p>
            <a:pPr algn="ctr"/>
            <a:endParaRPr lang="en-US" sz="2400" dirty="0">
              <a:solidFill>
                <a:schemeClr val="accent4"/>
              </a:solidFill>
            </a:endParaRPr>
          </a:p>
          <a:p>
            <a:pPr algn="ctr"/>
            <a:r>
              <a:rPr lang="en-US" sz="2400" dirty="0">
                <a:solidFill>
                  <a:schemeClr val="accent4"/>
                </a:solidFill>
              </a:rPr>
              <a:t>DEPARTMENT OF COMPUTER SCIENCE</a:t>
            </a:r>
            <a:r>
              <a:rPr lang="en-US" dirty="0">
                <a:solidFill>
                  <a:schemeClr val="accent4"/>
                </a:solidFill>
              </a:rPr>
              <a:t>                                                                        </a:t>
            </a:r>
            <a:r>
              <a:rPr lang="en-US" sz="2400" dirty="0">
                <a:solidFill>
                  <a:srgbClr val="0070C0"/>
                </a:solidFill>
              </a:rPr>
              <a:t>BACHELOR OF COMPUTER APPLICATIONS</a:t>
            </a:r>
          </a:p>
          <a:p>
            <a:pPr algn="ctr"/>
            <a:br>
              <a:rPr lang="en-US" sz="2400" dirty="0">
                <a:solidFill>
                  <a:schemeClr val="accent4"/>
                </a:solidFill>
              </a:rPr>
            </a:br>
            <a:r>
              <a:rPr lang="en-US" sz="2400" dirty="0">
                <a:solidFill>
                  <a:schemeClr val="accent3"/>
                </a:solidFill>
              </a:rPr>
              <a:t>“RAINFALL PREDICTION USING MACHINE LEARNING”</a:t>
            </a:r>
          </a:p>
          <a:p>
            <a:pPr algn="ctr"/>
            <a:endParaRPr lang="en-IN" sz="2400" dirty="0"/>
          </a:p>
          <a:p>
            <a:pPr algn="l"/>
            <a:r>
              <a:rPr lang="en-IN" sz="2400" dirty="0"/>
              <a:t>GROUP									          UNDER THE GUIDENCE 	OF</a:t>
            </a:r>
            <a:endParaRPr lang="en-IN" sz="2400" u="sng" dirty="0">
              <a:solidFill>
                <a:srgbClr val="FF0000"/>
              </a:solidFill>
            </a:endParaRPr>
          </a:p>
          <a:p>
            <a:pPr algn="l"/>
            <a:r>
              <a:rPr lang="en-IN" sz="2400" dirty="0">
                <a:solidFill>
                  <a:srgbClr val="7030A0"/>
                </a:solidFill>
              </a:rPr>
              <a:t>BHARATH K				</a:t>
            </a:r>
            <a:r>
              <a:rPr lang="en-IN" dirty="0">
                <a:solidFill>
                  <a:srgbClr val="7030A0"/>
                </a:solidFill>
              </a:rPr>
              <a:t>                                        </a:t>
            </a:r>
            <a:r>
              <a:rPr lang="en-IN" sz="2400" dirty="0">
                <a:solidFill>
                  <a:srgbClr val="7030A0"/>
                </a:solidFill>
              </a:rPr>
              <a:t>SRIHARI KV M.sc</a:t>
            </a:r>
          </a:p>
          <a:p>
            <a:pPr algn="l"/>
            <a:r>
              <a:rPr lang="en-IN" sz="2400" dirty="0">
                <a:solidFill>
                  <a:srgbClr val="7030A0"/>
                </a:solidFill>
              </a:rPr>
              <a:t>DEVARAJ YS                                               ASSISTENT PROFESSOR</a:t>
            </a:r>
          </a:p>
          <a:p>
            <a:pPr algn="l"/>
            <a:r>
              <a:rPr lang="en-IN" sz="2400" dirty="0">
                <a:solidFill>
                  <a:srgbClr val="7030A0"/>
                </a:solidFill>
              </a:rPr>
              <a:t>GAGAN L				</a:t>
            </a:r>
            <a:r>
              <a:rPr lang="en-IN" dirty="0">
                <a:solidFill>
                  <a:srgbClr val="7030A0"/>
                </a:solidFill>
              </a:rPr>
              <a:t>         </a:t>
            </a:r>
            <a:r>
              <a:rPr lang="en-IN" sz="2400" dirty="0">
                <a:solidFill>
                  <a:srgbClr val="7030A0"/>
                </a:solidFill>
              </a:rPr>
              <a:t>                            Dept.of Computer Science</a:t>
            </a:r>
          </a:p>
          <a:p>
            <a:pPr algn="l"/>
            <a:r>
              <a:rPr lang="en-IN" sz="2400" dirty="0">
                <a:solidFill>
                  <a:srgbClr val="7030A0"/>
                </a:solidFill>
              </a:rPr>
              <a:t>							</a:t>
            </a:r>
            <a:endParaRPr lang="en-IN" sz="2400" u="sng" dirty="0">
              <a:solidFill>
                <a:srgbClr val="7030A0"/>
              </a:solidFill>
            </a:endParaRPr>
          </a:p>
        </p:txBody>
      </p:sp>
    </p:spTree>
    <p:extLst>
      <p:ext uri="{BB962C8B-B14F-4D97-AF65-F5344CB8AC3E}">
        <p14:creationId xmlns:p14="http://schemas.microsoft.com/office/powerpoint/2010/main" val="293140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062523-77D8-EACB-0E06-CCBE0047A677}"/>
              </a:ext>
            </a:extLst>
          </p:cNvPr>
          <p:cNvSpPr>
            <a:spLocks noGrp="1"/>
          </p:cNvSpPr>
          <p:nvPr>
            <p:ph type="title"/>
          </p:nvPr>
        </p:nvSpPr>
        <p:spPr>
          <a:xfrm>
            <a:off x="1346847" y="609600"/>
            <a:ext cx="9038124" cy="688258"/>
          </a:xfrm>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Agenda</a:t>
            </a:r>
          </a:p>
        </p:txBody>
      </p:sp>
      <p:sp>
        <p:nvSpPr>
          <p:cNvPr id="5" name="Content Placeholder 4">
            <a:extLst>
              <a:ext uri="{FF2B5EF4-FFF2-40B4-BE49-F238E27FC236}">
                <a16:creationId xmlns:a16="http://schemas.microsoft.com/office/drawing/2014/main" id="{EE54F84E-01C9-AD70-A907-010DD753878C}"/>
              </a:ext>
            </a:extLst>
          </p:cNvPr>
          <p:cNvSpPr>
            <a:spLocks noGrp="1"/>
          </p:cNvSpPr>
          <p:nvPr>
            <p:ph idx="1"/>
          </p:nvPr>
        </p:nvSpPr>
        <p:spPr>
          <a:xfrm>
            <a:off x="1346847" y="1622323"/>
            <a:ext cx="7718498" cy="3519943"/>
          </a:xfrm>
        </p:spPr>
        <p:txBody>
          <a:bodyPr/>
          <a:lstStyle/>
          <a:p>
            <a:r>
              <a:rPr lang="en-US" dirty="0">
                <a:solidFill>
                  <a:schemeClr val="tx1">
                    <a:lumMod val="65000"/>
                    <a:lumOff val="35000"/>
                  </a:schemeClr>
                </a:solidFill>
                <a:latin typeface="Times New Roman" panose="02020603050405020304" pitchFamily="18" charset="0"/>
                <a:cs typeface="Times New Roman" panose="02020603050405020304" pitchFamily="18" charset="0"/>
              </a:rPr>
              <a:t>Abstract</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Importance</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Problem definition</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Introduction</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Methodology</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Hardware and Software Requierements</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Conclusion and Future Enhancement</a:t>
            </a:r>
          </a:p>
          <a:p>
            <a:endParaRPr lang="en-IN" dirty="0"/>
          </a:p>
        </p:txBody>
      </p:sp>
    </p:spTree>
    <p:extLst>
      <p:ext uri="{BB962C8B-B14F-4D97-AF65-F5344CB8AC3E}">
        <p14:creationId xmlns:p14="http://schemas.microsoft.com/office/powerpoint/2010/main" val="2185259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fade">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fade">
                                      <p:cBhvr>
                                        <p:cTn id="4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4DE71-C44A-7DBA-857D-CB71B79EC838}"/>
              </a:ext>
            </a:extLst>
          </p:cNvPr>
          <p:cNvSpPr>
            <a:spLocks noGrp="1"/>
          </p:cNvSpPr>
          <p:nvPr>
            <p:ph type="title"/>
          </p:nvPr>
        </p:nvSpPr>
        <p:spPr>
          <a:xfrm>
            <a:off x="677334" y="609600"/>
            <a:ext cx="8596668" cy="619432"/>
          </a:xfrm>
        </p:spPr>
        <p:txBody>
          <a:bodyPr>
            <a:normAutofit fontScale="90000"/>
          </a:bodyPr>
          <a:lstStyle/>
          <a:p>
            <a:r>
              <a:rPr lang="en-IN" dirty="0"/>
              <a:t>Abstract</a:t>
            </a:r>
          </a:p>
        </p:txBody>
      </p:sp>
      <p:sp>
        <p:nvSpPr>
          <p:cNvPr id="3" name="Content Placeholder 2">
            <a:extLst>
              <a:ext uri="{FF2B5EF4-FFF2-40B4-BE49-F238E27FC236}">
                <a16:creationId xmlns:a16="http://schemas.microsoft.com/office/drawing/2014/main" id="{BD28951C-1193-E3CE-80BD-9A380CA9AC4A}"/>
              </a:ext>
            </a:extLst>
          </p:cNvPr>
          <p:cNvSpPr>
            <a:spLocks noGrp="1"/>
          </p:cNvSpPr>
          <p:nvPr>
            <p:ph idx="1"/>
          </p:nvPr>
        </p:nvSpPr>
        <p:spPr>
          <a:xfrm>
            <a:off x="677334" y="1415845"/>
            <a:ext cx="8596668" cy="4625517"/>
          </a:xfrm>
        </p:spPr>
        <p:txBody>
          <a:bodyPr>
            <a:normAutofit/>
          </a:bodyPr>
          <a:lstStyle/>
          <a:p>
            <a:r>
              <a:rPr lang="en-IN" sz="1800" dirty="0">
                <a:effectLst/>
                <a:latin typeface="Times New Roman" panose="02020603050405020304" pitchFamily="18" charset="0"/>
                <a:ea typeface="Calibri" panose="020F0502020204030204" pitchFamily="34" charset="0"/>
              </a:rPr>
              <a:t>India is an agricultural country and its economy is largely based upon crop productivity and rainfall.</a:t>
            </a:r>
          </a:p>
          <a:p>
            <a:r>
              <a:rPr lang="en-IN" sz="1800" dirty="0">
                <a:effectLst/>
                <a:latin typeface="Times New Roman" panose="02020603050405020304" pitchFamily="18" charset="0"/>
                <a:ea typeface="Calibri" panose="020F0502020204030204" pitchFamily="34" charset="0"/>
              </a:rPr>
              <a:t>For analyzing the crop productivity, rainfall prediction is require and necessary to all farmers</a:t>
            </a:r>
            <a:r>
              <a:rPr lang="en-IN" dirty="0">
                <a:latin typeface="Times New Roman" panose="02020603050405020304" pitchFamily="18" charset="0"/>
                <a:ea typeface="Calibri" panose="020F0502020204030204" pitchFamily="34" charset="0"/>
              </a:rPr>
              <a:t>.</a:t>
            </a:r>
            <a:endParaRPr lang="en-IN" sz="1800" dirty="0">
              <a:effectLst/>
              <a:latin typeface="Times New Roman" panose="02020603050405020304" pitchFamily="18" charset="0"/>
              <a:ea typeface="Calibri" panose="020F0502020204030204" pitchFamily="34" charset="0"/>
            </a:endParaRPr>
          </a:p>
          <a:p>
            <a:r>
              <a:rPr lang="en-US" b="0" i="0" dirty="0">
                <a:solidFill>
                  <a:srgbClr val="202124"/>
                </a:solidFill>
                <a:effectLst/>
                <a:latin typeface="Google Sans"/>
              </a:rPr>
              <a:t>Rainfall prediction is a beneficiary one, but it is a challenging task. Machine learning techniques can use computational methods and predict rainfall by retrieving and integrating the hidden knowledge from the linear and non-linear patterns of past weather data.</a:t>
            </a:r>
          </a:p>
          <a:p>
            <a:r>
              <a:rPr lang="en-IN" sz="1800" dirty="0">
                <a:effectLst/>
                <a:latin typeface="Times New Roman" panose="02020603050405020304" pitchFamily="18" charset="0"/>
                <a:ea typeface="Calibri" panose="020F0502020204030204" pitchFamily="34" charset="0"/>
              </a:rPr>
              <a:t>Using different data mining techniques it can predict rainfall. Data mining techniques are used to estimate the rainfall numerically.</a:t>
            </a:r>
            <a:endParaRPr lang="en-US" b="0" i="0" dirty="0">
              <a:solidFill>
                <a:srgbClr val="202124"/>
              </a:solidFill>
              <a:effectLst/>
              <a:latin typeface="Google Sans"/>
            </a:endParaRPr>
          </a:p>
        </p:txBody>
      </p:sp>
    </p:spTree>
    <p:extLst>
      <p:ext uri="{BB962C8B-B14F-4D97-AF65-F5344CB8AC3E}">
        <p14:creationId xmlns:p14="http://schemas.microsoft.com/office/powerpoint/2010/main" val="89754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073CF-305D-A9B1-1360-340C52F1442D}"/>
              </a:ext>
            </a:extLst>
          </p:cNvPr>
          <p:cNvSpPr>
            <a:spLocks noGrp="1"/>
          </p:cNvSpPr>
          <p:nvPr>
            <p:ph type="title"/>
          </p:nvPr>
        </p:nvSpPr>
        <p:spPr>
          <a:xfrm>
            <a:off x="677335" y="540775"/>
            <a:ext cx="9449891" cy="796413"/>
          </a:xfrm>
        </p:spPr>
        <p:txBody>
          <a:bodyPr>
            <a:normAutofit fontScale="90000"/>
          </a:bodyPr>
          <a:lstStyle/>
          <a:p>
            <a:r>
              <a:rPr lang="en-US" sz="4000" b="1" dirty="0">
                <a:latin typeface="Times New Roman" panose="02020603050405020304" pitchFamily="18" charset="0"/>
                <a:ea typeface="Tomorrow" pitchFamily="34" charset="-122"/>
                <a:cs typeface="Times New Roman" panose="02020603050405020304" pitchFamily="18" charset="0"/>
              </a:rPr>
              <a:t>Importance of Rainfall Prediction</a:t>
            </a:r>
            <a:br>
              <a:rPr lang="en-US" sz="3600" dirty="0">
                <a:solidFill>
                  <a:schemeClr val="accent2"/>
                </a:solidFill>
                <a:latin typeface="Times New Roman" panose="02020603050405020304" pitchFamily="18" charset="0"/>
                <a:cs typeface="Times New Roman" panose="02020603050405020304" pitchFamily="18" charset="0"/>
              </a:rPr>
            </a:br>
            <a:endParaRPr lang="en-IN"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05C2A6-F7B0-556D-71B6-92E8EC93B746}"/>
              </a:ext>
            </a:extLst>
          </p:cNvPr>
          <p:cNvSpPr>
            <a:spLocks noGrp="1"/>
          </p:cNvSpPr>
          <p:nvPr>
            <p:ph idx="1"/>
          </p:nvPr>
        </p:nvSpPr>
        <p:spPr>
          <a:xfrm>
            <a:off x="677334" y="1484671"/>
            <a:ext cx="9449892" cy="4556691"/>
          </a:xfrm>
        </p:spPr>
        <p:txBody>
          <a:bodyPr/>
          <a:lstStyle/>
          <a:p>
            <a:pPr>
              <a:lnSpc>
                <a:spcPts val="2734"/>
              </a:lnSpc>
            </a:pPr>
            <a:r>
              <a:rPr lang="en-US" b="1" dirty="0">
                <a:solidFill>
                  <a:schemeClr val="tx2"/>
                </a:solidFill>
                <a:latin typeface="Tomorrow" pitchFamily="34" charset="0"/>
                <a:ea typeface="Tomorrow" pitchFamily="34" charset="-122"/>
                <a:cs typeface="Tomorrow" pitchFamily="34" charset="-120"/>
              </a:rPr>
              <a:t>Agriculture and</a:t>
            </a:r>
            <a:r>
              <a:rPr lang="en-US" b="1" dirty="0">
                <a:solidFill>
                  <a:srgbClr val="EDEDE8"/>
                </a:solidFill>
                <a:latin typeface="Tomorrow" pitchFamily="34" charset="0"/>
                <a:ea typeface="Tomorrow" pitchFamily="34" charset="-122"/>
                <a:cs typeface="Tomorrow" pitchFamily="34" charset="-120"/>
              </a:rPr>
              <a:t> </a:t>
            </a:r>
            <a:r>
              <a:rPr lang="en-US" sz="1800" b="1" dirty="0">
                <a:solidFill>
                  <a:schemeClr val="tx2"/>
                </a:solidFill>
                <a:latin typeface="Tomorrow" pitchFamily="34" charset="0"/>
                <a:ea typeface="Tomorrow" pitchFamily="34" charset="-122"/>
                <a:cs typeface="Tomorrow" pitchFamily="34" charset="-120"/>
              </a:rPr>
              <a:t>Water Management</a:t>
            </a:r>
          </a:p>
          <a:p>
            <a:pPr marL="0" indent="0">
              <a:lnSpc>
                <a:spcPts val="2734"/>
              </a:lnSpc>
              <a:buNone/>
            </a:pPr>
            <a:r>
              <a:rPr lang="en-US" sz="1800" dirty="0">
                <a:solidFill>
                  <a:schemeClr val="tx2"/>
                </a:solidFill>
                <a:latin typeface="Tomorrow" pitchFamily="34" charset="0"/>
                <a:ea typeface="Tomorrow" pitchFamily="34" charset="-122"/>
                <a:cs typeface="Tomorrow" pitchFamily="34" charset="-120"/>
              </a:rPr>
              <a:t>Accurate rainfall predictions aid farmers in planning their crops and irrigation needs, optimizing water usage and improving yields</a:t>
            </a:r>
          </a:p>
          <a:p>
            <a:pPr>
              <a:lnSpc>
                <a:spcPts val="2734"/>
              </a:lnSpc>
            </a:pPr>
            <a:r>
              <a:rPr lang="en-US" sz="1800" b="1" dirty="0">
                <a:solidFill>
                  <a:schemeClr val="tx2"/>
                </a:solidFill>
                <a:latin typeface="Tomorrow" pitchFamily="34" charset="0"/>
                <a:ea typeface="Tomorrow" pitchFamily="34" charset="-122"/>
                <a:cs typeface="Tomorrow" pitchFamily="34" charset="-120"/>
              </a:rPr>
              <a:t>Infrastructure Planning</a:t>
            </a:r>
          </a:p>
          <a:p>
            <a:pPr marL="0" indent="0">
              <a:lnSpc>
                <a:spcPts val="2734"/>
              </a:lnSpc>
              <a:buNone/>
            </a:pPr>
            <a:r>
              <a:rPr lang="en-US" sz="1800" dirty="0">
                <a:solidFill>
                  <a:schemeClr val="tx2"/>
                </a:solidFill>
                <a:latin typeface="Tomorrow" pitchFamily="34" charset="0"/>
                <a:ea typeface="Tomorrow" pitchFamily="34" charset="-122"/>
                <a:cs typeface="Tomorrow" pitchFamily="34" charset="-120"/>
              </a:rPr>
              <a:t>Rainfall data informs the design and maintenance of roads, bridges, and drainage systems, ensuring they can withstand changing precipitation patterns</a:t>
            </a:r>
          </a:p>
          <a:p>
            <a:pPr>
              <a:lnSpc>
                <a:spcPts val="2734"/>
              </a:lnSpc>
            </a:pPr>
            <a:r>
              <a:rPr lang="en-US" sz="1800" b="1" dirty="0">
                <a:solidFill>
                  <a:schemeClr val="tx2"/>
                </a:solidFill>
                <a:latin typeface="Tomorrow" pitchFamily="34" charset="0"/>
                <a:ea typeface="Tomorrow" pitchFamily="34" charset="-122"/>
                <a:cs typeface="Tomorrow" pitchFamily="34" charset="-120"/>
              </a:rPr>
              <a:t>Disaster Mitigation</a:t>
            </a:r>
            <a:endParaRPr lang="en-US" sz="1800" dirty="0">
              <a:solidFill>
                <a:schemeClr val="tx2"/>
              </a:solidFill>
            </a:endParaRPr>
          </a:p>
          <a:p>
            <a:pPr marL="0" indent="0">
              <a:lnSpc>
                <a:spcPts val="2734"/>
              </a:lnSpc>
              <a:buNone/>
            </a:pPr>
            <a:r>
              <a:rPr lang="en-US" sz="1800" dirty="0">
                <a:solidFill>
                  <a:schemeClr val="tx2"/>
                </a:solidFill>
                <a:latin typeface="Tomorrow" pitchFamily="34" charset="0"/>
                <a:ea typeface="Tomorrow" pitchFamily="34" charset="-122"/>
                <a:cs typeface="Tomorrow" pitchFamily="34" charset="-120"/>
              </a:rPr>
              <a:t>Early warning of heavy rainfall can help authorities prepare for and mitigate the impact of floods, landslides, and other weather-related disasters.</a:t>
            </a:r>
            <a:endParaRPr lang="en-US" sz="1800" dirty="0">
              <a:solidFill>
                <a:schemeClr val="tx2"/>
              </a:solidFill>
            </a:endParaRPr>
          </a:p>
          <a:p>
            <a:pPr marL="0" indent="0">
              <a:lnSpc>
                <a:spcPts val="2734"/>
              </a:lnSpc>
              <a:buNone/>
            </a:pPr>
            <a:endParaRPr lang="en-US" sz="1800" dirty="0">
              <a:solidFill>
                <a:schemeClr val="tx2"/>
              </a:solidFill>
            </a:endParaRPr>
          </a:p>
          <a:p>
            <a:pPr marL="0" indent="0">
              <a:lnSpc>
                <a:spcPts val="2734"/>
              </a:lnSpc>
              <a:buNone/>
            </a:pPr>
            <a:endParaRPr lang="en-US" sz="1800" dirty="0">
              <a:solidFill>
                <a:schemeClr val="tx2"/>
              </a:solidFill>
            </a:endParaRPr>
          </a:p>
        </p:txBody>
      </p:sp>
    </p:spTree>
    <p:extLst>
      <p:ext uri="{BB962C8B-B14F-4D97-AF65-F5344CB8AC3E}">
        <p14:creationId xmlns:p14="http://schemas.microsoft.com/office/powerpoint/2010/main" val="366842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A7E79-71E2-71BF-F7B4-6DD16B747AA0}"/>
              </a:ext>
            </a:extLst>
          </p:cNvPr>
          <p:cNvSpPr>
            <a:spLocks noGrp="1"/>
          </p:cNvSpPr>
          <p:nvPr>
            <p:ph type="title"/>
          </p:nvPr>
        </p:nvSpPr>
        <p:spPr>
          <a:xfrm>
            <a:off x="677334" y="521110"/>
            <a:ext cx="8596668" cy="816077"/>
          </a:xfrm>
        </p:spPr>
        <p:txBody>
          <a:bodyPr/>
          <a:lstStyle/>
          <a:p>
            <a:r>
              <a:rPr lang="en-IN" dirty="0">
                <a:latin typeface="Times New Roman" panose="02020603050405020304" pitchFamily="18" charset="0"/>
                <a:cs typeface="Times New Roman" panose="02020603050405020304" pitchFamily="18" charset="0"/>
              </a:rPr>
              <a:t>Problem Definition</a:t>
            </a:r>
          </a:p>
        </p:txBody>
      </p:sp>
      <p:sp>
        <p:nvSpPr>
          <p:cNvPr id="3" name="Content Placeholder 2">
            <a:extLst>
              <a:ext uri="{FF2B5EF4-FFF2-40B4-BE49-F238E27FC236}">
                <a16:creationId xmlns:a16="http://schemas.microsoft.com/office/drawing/2014/main" id="{6FAD8732-9AA8-50C1-CE59-0EB3E5536A2B}"/>
              </a:ext>
            </a:extLst>
          </p:cNvPr>
          <p:cNvSpPr>
            <a:spLocks noGrp="1"/>
          </p:cNvSpPr>
          <p:nvPr>
            <p:ph idx="1"/>
          </p:nvPr>
        </p:nvSpPr>
        <p:spPr>
          <a:xfrm>
            <a:off x="677334" y="1425677"/>
            <a:ext cx="8923866" cy="1320800"/>
          </a:xfrm>
        </p:spPr>
        <p:txBody>
          <a:bodyPr>
            <a:normAutofit/>
          </a:bodyPr>
          <a:lstStyle/>
          <a:p>
            <a:r>
              <a:rPr lang="en-US" dirty="0">
                <a:latin typeface="Times New Roman" panose="02020603050405020304" pitchFamily="18" charset="0"/>
                <a:cs typeface="Times New Roman" panose="02020603050405020304" pitchFamily="18" charset="0"/>
              </a:rPr>
              <a:t>The goal of this project is to develop a machine learning model that can predict rainfall accurately based on historical weather data. The model should handle a variety of input features, such as temperature, humidity, wind speed, atmospheric pressure, and past rainfall data, to provide reliable forecasts.</a:t>
            </a:r>
          </a:p>
          <a:p>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68546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DD3E2-22A1-9C69-F2EF-919EC8255CC8}"/>
              </a:ext>
            </a:extLst>
          </p:cNvPr>
          <p:cNvSpPr>
            <a:spLocks noGrp="1"/>
          </p:cNvSpPr>
          <p:nvPr>
            <p:ph type="title"/>
          </p:nvPr>
        </p:nvSpPr>
        <p:spPr>
          <a:xfrm>
            <a:off x="677334" y="609600"/>
            <a:ext cx="8596668" cy="658761"/>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E1172516-F74F-1FD7-A83E-F0080FB2D9AA}"/>
              </a:ext>
            </a:extLst>
          </p:cNvPr>
          <p:cNvSpPr>
            <a:spLocks noGrp="1"/>
          </p:cNvSpPr>
          <p:nvPr>
            <p:ph idx="1"/>
          </p:nvPr>
        </p:nvSpPr>
        <p:spPr>
          <a:xfrm>
            <a:off x="677334" y="1474839"/>
            <a:ext cx="8596668" cy="4546859"/>
          </a:xfrm>
          <a:noFill/>
        </p:spPr>
        <p:txBody>
          <a:bodyPr>
            <a:normAutofit lnSpcReduction="10000"/>
          </a:bodyPr>
          <a:lstStyle/>
          <a:p>
            <a:r>
              <a:rPr lang="en-IN" sz="1800" dirty="0">
                <a:effectLst/>
                <a:latin typeface="Times New Roman" panose="02020603050405020304" pitchFamily="18" charset="0"/>
                <a:ea typeface="Calibri" panose="020F0502020204030204" pitchFamily="34" charset="0"/>
              </a:rPr>
              <a:t>Rainfall Prediction is one of the most challenging tasks. Though already many algorithms have being proposed but still accurate prediction of rainfall is very difficult.</a:t>
            </a:r>
          </a:p>
          <a:p>
            <a:r>
              <a:rPr lang="en-IN" sz="1800" dirty="0">
                <a:effectLst/>
                <a:latin typeface="Times New Roman" panose="02020603050405020304" pitchFamily="18" charset="0"/>
                <a:ea typeface="Calibri" panose="020F0502020204030204" pitchFamily="34" charset="0"/>
              </a:rPr>
              <a:t>In an agricultural country like India, the success or failure of the crops and water scarcity in any year is always viewed with greatest concern.</a:t>
            </a:r>
          </a:p>
          <a:p>
            <a:r>
              <a:rPr lang="en-IN" sz="1800" dirty="0">
                <a:effectLst/>
                <a:latin typeface="Times New Roman" panose="02020603050405020304" pitchFamily="18" charset="0"/>
                <a:ea typeface="Calibri" panose="020F0502020204030204" pitchFamily="34" charset="0"/>
              </a:rPr>
              <a:t>A small fluctuation in the seasonal rainfall can have devastating impacts on agriculture sector. </a:t>
            </a:r>
          </a:p>
          <a:p>
            <a:r>
              <a:rPr lang="en-IN" sz="1800" dirty="0">
                <a:effectLst/>
                <a:latin typeface="Times New Roman" panose="02020603050405020304" pitchFamily="18" charset="0"/>
                <a:ea typeface="Calibri" panose="020F0502020204030204" pitchFamily="34" charset="0"/>
              </a:rPr>
              <a:t>Accurate rainfall prediction has a potential benefit of preventing causalities and damages caused by natural disasters</a:t>
            </a:r>
          </a:p>
          <a:p>
            <a:r>
              <a:rPr lang="en-IN" dirty="0">
                <a:latin typeface="Times New Roman" panose="02020603050405020304" pitchFamily="18" charset="0"/>
                <a:ea typeface="Calibri" panose="020F0502020204030204" pitchFamily="34" charset="0"/>
              </a:rPr>
              <a:t>U</a:t>
            </a:r>
            <a:r>
              <a:rPr lang="en-IN" sz="1800" dirty="0">
                <a:effectLst/>
                <a:latin typeface="Times New Roman" panose="02020603050405020304" pitchFamily="18" charset="0"/>
                <a:ea typeface="Calibri" panose="020F0502020204030204" pitchFamily="34" charset="0"/>
              </a:rPr>
              <a:t>sing various data mining techniques</a:t>
            </a:r>
            <a:r>
              <a:rPr lang="en-IN" dirty="0">
                <a:latin typeface="Times New Roman" panose="02020603050405020304" pitchFamily="18" charset="0"/>
                <a:ea typeface="Calibri" panose="020F0502020204030204" pitchFamily="34" charset="0"/>
              </a:rPr>
              <a:t> to develop Rainfall prediction model</a:t>
            </a:r>
            <a:r>
              <a:rPr lang="en-IN" sz="1800" dirty="0">
                <a:effectLst/>
                <a:latin typeface="Times New Roman" panose="02020603050405020304" pitchFamily="18" charset="0"/>
                <a:ea typeface="Calibri" panose="020F0502020204030204" pitchFamily="34" charset="0"/>
              </a:rPr>
              <a:t> Such as classification, clustering, decision tree and also neural networks</a:t>
            </a:r>
          </a:p>
          <a:p>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Under certain circumstances such as flood and drought, highly accurate rainfall prediction is useful for agriculture management and disaster prevention. In this project, various algorithms have been analysed. </a:t>
            </a:r>
          </a:p>
          <a:p>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Data mining techniques are efficiently used in rainfall prediction.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09593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C8645-3D6F-F7AF-81E1-51505346B33F}"/>
              </a:ext>
            </a:extLst>
          </p:cNvPr>
          <p:cNvSpPr>
            <a:spLocks noGrp="1"/>
          </p:cNvSpPr>
          <p:nvPr>
            <p:ph type="title"/>
          </p:nvPr>
        </p:nvSpPr>
        <p:spPr>
          <a:xfrm>
            <a:off x="677334" y="609600"/>
            <a:ext cx="8596668" cy="717755"/>
          </a:xfrm>
        </p:spPr>
        <p:txBody>
          <a:bodyPr>
            <a:normAutofit/>
          </a:bodyPr>
          <a:lstStyle/>
          <a:p>
            <a:r>
              <a:rPr lang="en-US" dirty="0"/>
              <a:t>Methodology</a:t>
            </a:r>
            <a:endParaRPr lang="en-IN" dirty="0"/>
          </a:p>
        </p:txBody>
      </p:sp>
      <p:pic>
        <p:nvPicPr>
          <p:cNvPr id="9" name="Picture 8">
            <a:extLst>
              <a:ext uri="{FF2B5EF4-FFF2-40B4-BE49-F238E27FC236}">
                <a16:creationId xmlns:a16="http://schemas.microsoft.com/office/drawing/2014/main" id="{281D7FAB-3546-A215-6FC4-D9767FB1A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234" y="1688407"/>
            <a:ext cx="8710968" cy="3056407"/>
          </a:xfrm>
          <a:prstGeom prst="rect">
            <a:avLst/>
          </a:prstGeom>
        </p:spPr>
      </p:pic>
    </p:spTree>
    <p:extLst>
      <p:ext uri="{BB962C8B-B14F-4D97-AF65-F5344CB8AC3E}">
        <p14:creationId xmlns:p14="http://schemas.microsoft.com/office/powerpoint/2010/main" val="2957278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D93302-FC98-454F-AD28-7EE3D208EEEF}"/>
              </a:ext>
            </a:extLst>
          </p:cNvPr>
          <p:cNvSpPr>
            <a:spLocks noGrp="1"/>
          </p:cNvSpPr>
          <p:nvPr>
            <p:ph type="title"/>
          </p:nvPr>
        </p:nvSpPr>
        <p:spPr/>
        <p:txBody>
          <a:bodyPr>
            <a:normAutofit/>
          </a:bodyPr>
          <a:lstStyle/>
          <a:p>
            <a:r>
              <a:rPr lang="en-IN" dirty="0"/>
              <a:t>Hardware and Software Requirements of Rainfall Prediction</a:t>
            </a:r>
          </a:p>
        </p:txBody>
      </p:sp>
      <p:sp>
        <p:nvSpPr>
          <p:cNvPr id="5" name="Content Placeholder 4">
            <a:extLst>
              <a:ext uri="{FF2B5EF4-FFF2-40B4-BE49-F238E27FC236}">
                <a16:creationId xmlns:a16="http://schemas.microsoft.com/office/drawing/2014/main" id="{5D8482F3-4FAB-08C3-1C8A-7EB60B846304}"/>
              </a:ext>
            </a:extLst>
          </p:cNvPr>
          <p:cNvSpPr>
            <a:spLocks noGrp="1"/>
          </p:cNvSpPr>
          <p:nvPr>
            <p:ph sz="half" idx="1"/>
          </p:nvPr>
        </p:nvSpPr>
        <p:spPr/>
        <p:txBody>
          <a:bodyPr>
            <a:normAutofit/>
          </a:bodyPr>
          <a:lstStyle/>
          <a:p>
            <a:r>
              <a:rPr lang="en-IN" sz="2800" dirty="0">
                <a:solidFill>
                  <a:schemeClr val="accent5">
                    <a:lumMod val="75000"/>
                  </a:schemeClr>
                </a:solidFill>
                <a:latin typeface="Times New Roman" panose="02020603050405020304" pitchFamily="18" charset="0"/>
                <a:cs typeface="Times New Roman" panose="02020603050405020304" pitchFamily="18" charset="0"/>
              </a:rPr>
              <a:t>Hardware requirements           </a:t>
            </a:r>
          </a:p>
          <a:p>
            <a:pPr>
              <a:buFont typeface="+mj-lt"/>
              <a:buAutoNum type="arabicPeriod"/>
            </a:pPr>
            <a:r>
              <a:rPr lang="en-IN" dirty="0">
                <a:latin typeface="Times New Roman" panose="02020603050405020304" pitchFamily="18" charset="0"/>
                <a:cs typeface="Times New Roman" panose="02020603050405020304" pitchFamily="18" charset="0"/>
              </a:rPr>
              <a:t>Operating System – Windows7/10</a:t>
            </a:r>
          </a:p>
          <a:p>
            <a:pPr>
              <a:buFont typeface="+mj-lt"/>
              <a:buAutoNum type="arabicPeriod"/>
            </a:pPr>
            <a:r>
              <a:rPr lang="en-IN" dirty="0">
                <a:latin typeface="Times New Roman" panose="02020603050405020304" pitchFamily="18" charset="0"/>
                <a:cs typeface="Times New Roman" panose="02020603050405020304" pitchFamily="18" charset="0"/>
              </a:rPr>
              <a:t>Speed - 2.4GHZ                                              </a:t>
            </a:r>
          </a:p>
          <a:p>
            <a:pPr>
              <a:buFont typeface="+mj-lt"/>
              <a:buAutoNum type="arabicPeriod"/>
            </a:pPr>
            <a:r>
              <a:rPr lang="en-IN" dirty="0">
                <a:latin typeface="Times New Roman" panose="02020603050405020304" pitchFamily="18" charset="0"/>
                <a:cs typeface="Times New Roman" panose="02020603050405020304" pitchFamily="18" charset="0"/>
              </a:rPr>
              <a:t>Hard disk - 500GB          	</a:t>
            </a:r>
          </a:p>
          <a:p>
            <a:pPr>
              <a:buFont typeface="+mj-lt"/>
              <a:buAutoNum type="arabicPeriod"/>
            </a:pPr>
            <a:r>
              <a:rPr lang="en-IN" dirty="0">
                <a:latin typeface="Times New Roman" panose="02020603050405020304" pitchFamily="18" charset="0"/>
                <a:cs typeface="Times New Roman" panose="02020603050405020304" pitchFamily="18" charset="0"/>
              </a:rPr>
              <a:t>Monitor - 15VGA          </a:t>
            </a:r>
          </a:p>
          <a:p>
            <a:pPr>
              <a:buFont typeface="+mj-lt"/>
              <a:buAutoNum type="arabicPeriod"/>
            </a:pPr>
            <a:r>
              <a:rPr lang="en-IN" dirty="0">
                <a:latin typeface="Times New Roman" panose="02020603050405020304" pitchFamily="18" charset="0"/>
                <a:cs typeface="Times New Roman" panose="02020603050405020304" pitchFamily="18" charset="0"/>
              </a:rPr>
              <a:t>Ram - 4GB</a:t>
            </a:r>
          </a:p>
          <a:p>
            <a:pPr marL="0" indent="0">
              <a:buNone/>
            </a:pPr>
            <a:endParaRPr lang="en-IN" sz="3200" dirty="0">
              <a:solidFill>
                <a:schemeClr val="accent5">
                  <a:lumMod val="75000"/>
                </a:schemeClr>
              </a:solidFill>
              <a:latin typeface="Times New Roman" panose="02020603050405020304" pitchFamily="18" charset="0"/>
              <a:cs typeface="Times New Roman" panose="02020603050405020304" pitchFamily="18" charset="0"/>
            </a:endParaRPr>
          </a:p>
          <a:p>
            <a:pPr marL="0" indent="0">
              <a:buNone/>
            </a:pPr>
            <a:endParaRPr lang="en-IN" dirty="0"/>
          </a:p>
        </p:txBody>
      </p:sp>
      <p:sp>
        <p:nvSpPr>
          <p:cNvPr id="2" name="Content Placeholder 1">
            <a:extLst>
              <a:ext uri="{FF2B5EF4-FFF2-40B4-BE49-F238E27FC236}">
                <a16:creationId xmlns:a16="http://schemas.microsoft.com/office/drawing/2014/main" id="{C7FC9BA8-7A97-9039-7626-6EFD64833670}"/>
              </a:ext>
            </a:extLst>
          </p:cNvPr>
          <p:cNvSpPr>
            <a:spLocks noGrp="1"/>
          </p:cNvSpPr>
          <p:nvPr>
            <p:ph sz="half" idx="2"/>
          </p:nvPr>
        </p:nvSpPr>
        <p:spPr>
          <a:xfrm>
            <a:off x="5089970" y="2160589"/>
            <a:ext cx="6266288" cy="3880773"/>
          </a:xfrm>
        </p:spPr>
        <p:txBody>
          <a:bodyPr/>
          <a:lstStyle/>
          <a:p>
            <a:r>
              <a:rPr lang="en-IN" sz="2400" dirty="0">
                <a:solidFill>
                  <a:schemeClr val="accent5">
                    <a:lumMod val="75000"/>
                  </a:schemeClr>
                </a:solidFill>
                <a:latin typeface="Times New Roman" panose="02020603050405020304" pitchFamily="18" charset="0"/>
                <a:cs typeface="Times New Roman" panose="02020603050405020304" pitchFamily="18" charset="0"/>
              </a:rPr>
              <a:t>Software requirements</a:t>
            </a:r>
          </a:p>
          <a:p>
            <a:r>
              <a:rPr lang="en-IN" dirty="0">
                <a:solidFill>
                  <a:schemeClr val="tx1"/>
                </a:solidFill>
                <a:latin typeface="Times New Roman" panose="02020603050405020304" pitchFamily="18" charset="0"/>
                <a:cs typeface="Times New Roman" panose="02020603050405020304" pitchFamily="18" charset="0"/>
              </a:rPr>
              <a:t>Programming languages - </a:t>
            </a:r>
            <a:r>
              <a:rPr lang="en-IN" dirty="0">
                <a:latin typeface="Times New Roman" panose="02020603050405020304" pitchFamily="18" charset="0"/>
                <a:cs typeface="Times New Roman" panose="02020603050405020304" pitchFamily="18" charset="0"/>
              </a:rPr>
              <a:t>Python </a:t>
            </a:r>
          </a:p>
          <a:p>
            <a:r>
              <a:rPr lang="en-IN" dirty="0">
                <a:latin typeface="Times New Roman" panose="02020603050405020304" pitchFamily="18" charset="0"/>
                <a:cs typeface="Times New Roman" panose="02020603050405020304" pitchFamily="18" charset="0"/>
              </a:rPr>
              <a:t>Application - Visual studio</a:t>
            </a:r>
          </a:p>
          <a:p>
            <a:r>
              <a:rPr lang="en-IN" dirty="0">
                <a:latin typeface="Times New Roman" panose="02020603050405020304" pitchFamily="18" charset="0"/>
                <a:cs typeface="Times New Roman" panose="02020603050405020304" pitchFamily="18" charset="0"/>
              </a:rPr>
              <a:t>Libraries - numpy,pandas,matplotlib,seaborn,</a:t>
            </a:r>
          </a:p>
          <a:p>
            <a:pPr marL="1371600" lvl="3" indent="0">
              <a:buNone/>
            </a:pPr>
            <a:r>
              <a:rPr lang="en-IN" sz="1800" dirty="0">
                <a:latin typeface="Times New Roman" panose="02020603050405020304" pitchFamily="18" charset="0"/>
                <a:cs typeface="Times New Roman" panose="02020603050405020304" pitchFamily="18" charset="0"/>
              </a:rPr>
              <a:t>sklearn, xgboost</a:t>
            </a:r>
            <a:endParaRPr lang="en-IN" sz="1800" dirty="0"/>
          </a:p>
        </p:txBody>
      </p:sp>
    </p:spTree>
    <p:extLst>
      <p:ext uri="{BB962C8B-B14F-4D97-AF65-F5344CB8AC3E}">
        <p14:creationId xmlns:p14="http://schemas.microsoft.com/office/powerpoint/2010/main" val="62806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fade">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0" end="0"/>
                                            </p:txEl>
                                          </p:spTgt>
                                        </p:tgtEl>
                                        <p:attrNameLst>
                                          <p:attrName>style.visibility</p:attrName>
                                        </p:attrNameLst>
                                      </p:cBhvr>
                                      <p:to>
                                        <p:strVal val="visible"/>
                                      </p:to>
                                    </p:set>
                                    <p:animEffect transition="in" filter="fade">
                                      <p:cBhvr>
                                        <p:cTn id="42" dur="500"/>
                                        <p:tgtEl>
                                          <p:spTgt spid="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txEl>
                                              <p:pRg st="1" end="1"/>
                                            </p:txEl>
                                          </p:spTgt>
                                        </p:tgtEl>
                                        <p:attrNameLst>
                                          <p:attrName>style.visibility</p:attrName>
                                        </p:attrNameLst>
                                      </p:cBhvr>
                                      <p:to>
                                        <p:strVal val="visible"/>
                                      </p:to>
                                    </p:set>
                                    <p:animEffect transition="in" filter="fade">
                                      <p:cBhvr>
                                        <p:cTn id="47" dur="500"/>
                                        <p:tgtEl>
                                          <p:spTgt spid="2">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xEl>
                                              <p:pRg st="2" end="2"/>
                                            </p:txEl>
                                          </p:spTgt>
                                        </p:tgtEl>
                                        <p:attrNameLst>
                                          <p:attrName>style.visibility</p:attrName>
                                        </p:attrNameLst>
                                      </p:cBhvr>
                                      <p:to>
                                        <p:strVal val="visible"/>
                                      </p:to>
                                    </p:set>
                                    <p:animEffect transition="in" filter="fade">
                                      <p:cBhvr>
                                        <p:cTn id="52" dur="500"/>
                                        <p:tgtEl>
                                          <p:spTgt spid="2">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txEl>
                                              <p:pRg st="3" end="3"/>
                                            </p:txEl>
                                          </p:spTgt>
                                        </p:tgtEl>
                                        <p:attrNameLst>
                                          <p:attrName>style.visibility</p:attrName>
                                        </p:attrNameLst>
                                      </p:cBhvr>
                                      <p:to>
                                        <p:strVal val="visible"/>
                                      </p:to>
                                    </p:set>
                                    <p:animEffect transition="in" filter="fade">
                                      <p:cBhvr>
                                        <p:cTn id="57" dur="500"/>
                                        <p:tgtEl>
                                          <p:spTgt spid="2">
                                            <p:txEl>
                                              <p:pRg st="3" end="3"/>
                                            </p:tx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
                                            <p:txEl>
                                              <p:pRg st="4" end="4"/>
                                            </p:txEl>
                                          </p:spTgt>
                                        </p:tgtEl>
                                        <p:attrNameLst>
                                          <p:attrName>style.visibility</p:attrName>
                                        </p:attrNameLst>
                                      </p:cBhvr>
                                      <p:to>
                                        <p:strVal val="visible"/>
                                      </p:to>
                                    </p:set>
                                    <p:animEffect transition="in" filter="fade">
                                      <p:cBhvr>
                                        <p:cTn id="6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1C5C3-AD8E-25A1-5682-4D94F5EAD461}"/>
              </a:ext>
            </a:extLst>
          </p:cNvPr>
          <p:cNvSpPr>
            <a:spLocks noGrp="1"/>
          </p:cNvSpPr>
          <p:nvPr>
            <p:ph type="title"/>
          </p:nvPr>
        </p:nvSpPr>
        <p:spPr>
          <a:xfrm>
            <a:off x="677333" y="609599"/>
            <a:ext cx="10314683" cy="550607"/>
          </a:xfrm>
        </p:spPr>
        <p:txBody>
          <a:bodyPr>
            <a:normAutofit fontScale="90000"/>
          </a:bodyPr>
          <a:lstStyle/>
          <a:p>
            <a:r>
              <a:rPr lang="en-US" dirty="0"/>
              <a:t>Conclusion</a:t>
            </a:r>
            <a:endParaRPr lang="en-IN" dirty="0"/>
          </a:p>
        </p:txBody>
      </p:sp>
      <p:sp>
        <p:nvSpPr>
          <p:cNvPr id="4" name="Rectangle 1">
            <a:extLst>
              <a:ext uri="{FF2B5EF4-FFF2-40B4-BE49-F238E27FC236}">
                <a16:creationId xmlns:a16="http://schemas.microsoft.com/office/drawing/2014/main" id="{DD4903B7-1817-539A-7580-C614D23A1019}"/>
              </a:ext>
            </a:extLst>
          </p:cNvPr>
          <p:cNvSpPr>
            <a:spLocks noGrp="1" noChangeArrowheads="1"/>
          </p:cNvSpPr>
          <p:nvPr>
            <p:ph idx="1"/>
          </p:nvPr>
        </p:nvSpPr>
        <p:spPr bwMode="auto">
          <a:xfrm>
            <a:off x="500354" y="1309574"/>
            <a:ext cx="945868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and Reliability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model demonstrated consistent accuracy</a:t>
            </a:r>
          </a:p>
          <a:p>
            <a:pPr marL="0" indent="0" defTabSz="914400" eaLnBrk="0" fontAlgn="base" hangingPunct="0">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predicting rainfall patterns over the test period.</a:t>
            </a:r>
          </a:p>
          <a:p>
            <a:pPr marL="0" indent="0" defTabSz="914400" eaLnBrk="0" fontAlgn="base" hangingPunct="0">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 on Decision-Making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Reliable predictions enable better preparedness for agriculture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urban planning, and disaster management.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 and Future Scope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Acknowledging the model's limitations, further enhancements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data granularity and modeling techniques can improve forecast precision.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Community and Stakeholder Engagement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Collaborative efforts with meteorologists, local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communities, and policymakers are crucial for effective utilization and dissemination of predictions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Continued Research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Ongoing research should focus on integrating advanced machine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learning algorithms and real-time data updates to enhance predictive capabilities.</a:t>
            </a:r>
          </a:p>
        </p:txBody>
      </p:sp>
    </p:spTree>
    <p:extLst>
      <p:ext uri="{BB962C8B-B14F-4D97-AF65-F5344CB8AC3E}">
        <p14:creationId xmlns:p14="http://schemas.microsoft.com/office/powerpoint/2010/main" val="84038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fade">
                                      <p:cBhvr>
                                        <p:cTn id="47" dur="500"/>
                                        <p:tgtEl>
                                          <p:spTgt spid="4">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1" end="11"/>
                                            </p:txEl>
                                          </p:spTgt>
                                        </p:tgtEl>
                                        <p:attrNameLst>
                                          <p:attrName>style.visibility</p:attrName>
                                        </p:attrNameLst>
                                      </p:cBhvr>
                                      <p:to>
                                        <p:strVal val="visible"/>
                                      </p:to>
                                    </p:set>
                                    <p:animEffect transition="in" filter="fade">
                                      <p:cBhvr>
                                        <p:cTn id="52" dur="500"/>
                                        <p:tgtEl>
                                          <p:spTgt spid="4">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2" end="12"/>
                                            </p:txEl>
                                          </p:spTgt>
                                        </p:tgtEl>
                                        <p:attrNameLst>
                                          <p:attrName>style.visibility</p:attrName>
                                        </p:attrNameLst>
                                      </p:cBhvr>
                                      <p:to>
                                        <p:strVal val="visible"/>
                                      </p:to>
                                    </p:set>
                                    <p:animEffect transition="in" filter="fade">
                                      <p:cBhvr>
                                        <p:cTn id="57" dur="500"/>
                                        <p:tgtEl>
                                          <p:spTgt spid="4">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3" end="13"/>
                                            </p:txEl>
                                          </p:spTgt>
                                        </p:tgtEl>
                                        <p:attrNameLst>
                                          <p:attrName>style.visibility</p:attrName>
                                        </p:attrNameLst>
                                      </p:cBhvr>
                                      <p:to>
                                        <p:strVal val="visible"/>
                                      </p:to>
                                    </p:set>
                                    <p:animEffect transition="in" filter="fade">
                                      <p:cBhvr>
                                        <p:cTn id="62"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67431-C144-6CF7-5D1F-DB9E1E9A9F37}"/>
              </a:ext>
            </a:extLst>
          </p:cNvPr>
          <p:cNvSpPr>
            <a:spLocks noGrp="1"/>
          </p:cNvSpPr>
          <p:nvPr>
            <p:ph type="title"/>
          </p:nvPr>
        </p:nvSpPr>
        <p:spPr>
          <a:xfrm>
            <a:off x="677334" y="609600"/>
            <a:ext cx="8596668" cy="825910"/>
          </a:xfrm>
        </p:spPr>
        <p:txBody>
          <a:bodyPr/>
          <a:lstStyle/>
          <a:p>
            <a:r>
              <a:rPr lang="en-US" dirty="0">
                <a:latin typeface="Times New Roman" panose="02020603050405020304" pitchFamily="18" charset="0"/>
                <a:cs typeface="Times New Roman" panose="02020603050405020304" pitchFamily="18" charset="0"/>
              </a:rPr>
              <a:t>Fucture Enhancement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5E92E4-7E01-F9E0-BECD-52AF26FF7FE1}"/>
              </a:ext>
            </a:extLst>
          </p:cNvPr>
          <p:cNvSpPr>
            <a:spLocks noGrp="1"/>
          </p:cNvSpPr>
          <p:nvPr>
            <p:ph idx="1"/>
          </p:nvPr>
        </p:nvSpPr>
        <p:spPr>
          <a:xfrm>
            <a:off x="677334" y="1435511"/>
            <a:ext cx="8596668" cy="4605852"/>
          </a:xfrm>
        </p:spPr>
        <p:txBody>
          <a:bodyPr/>
          <a:lstStyle/>
          <a:p>
            <a:r>
              <a:rPr lang="en-US" dirty="0"/>
              <a:t>The future enhancements we can apply to our project to improve its performance and accuracy. For rainfall prediction, we have only suggested one technique, and it has both advantages and disadvantages compared to other algorithms. Even so, we were unable to predict rainfall at various locations with a 100% accuracy rate. In order to accurately predict when it will rain, a mix of algorithms must be constructed and applied in real time. Due to the dynamic nature of rainfall factors and how many distinct real-world scenarios they are affected by, a model that has superior data pretreatment and optimization techniques may yield better results. In the future, there will be additional </a:t>
            </a:r>
            <a:endParaRPr lang="en-IN" dirty="0"/>
          </a:p>
        </p:txBody>
      </p:sp>
    </p:spTree>
    <p:extLst>
      <p:ext uri="{BB962C8B-B14F-4D97-AF65-F5344CB8AC3E}">
        <p14:creationId xmlns:p14="http://schemas.microsoft.com/office/powerpoint/2010/main" val="503376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95B8B7B-D931-0ABE-08C6-4BC874EC35E2}"/>
              </a:ext>
            </a:extLst>
          </p:cNvPr>
          <p:cNvGrpSpPr/>
          <p:nvPr/>
        </p:nvGrpSpPr>
        <p:grpSpPr>
          <a:xfrm>
            <a:off x="985520" y="1209040"/>
            <a:ext cx="5688774" cy="4769505"/>
            <a:chOff x="985520" y="1209040"/>
            <a:chExt cx="6311900" cy="4769505"/>
          </a:xfrm>
        </p:grpSpPr>
        <p:sp>
          <p:nvSpPr>
            <p:cNvPr id="2" name="Rectangle: Folded Corner 1">
              <a:extLst>
                <a:ext uri="{FF2B5EF4-FFF2-40B4-BE49-F238E27FC236}">
                  <a16:creationId xmlns:a16="http://schemas.microsoft.com/office/drawing/2014/main" id="{BED63DBF-2E11-D53A-7BA6-1FC5ACE8FA05}"/>
                </a:ext>
              </a:extLst>
            </p:cNvPr>
            <p:cNvSpPr/>
            <p:nvPr/>
          </p:nvSpPr>
          <p:spPr>
            <a:xfrm>
              <a:off x="985520" y="1209040"/>
              <a:ext cx="3261360" cy="4165600"/>
            </a:xfrm>
            <a:prstGeom prst="foldedCorner">
              <a:avLst/>
            </a:prstGeom>
            <a:blipFill>
              <a:blip r:embed="rId2"/>
              <a:stretch>
                <a:fillRect/>
              </a:stretch>
            </a:blipFill>
            <a:effectLst>
              <a:outerShdw dist="50800" dir="5400000" sx="1000" sy="1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104FA2F5-81D7-5342-C828-CF3645094AB3}"/>
                </a:ext>
              </a:extLst>
            </p:cNvPr>
            <p:cNvSpPr txBox="1"/>
            <p:nvPr/>
          </p:nvSpPr>
          <p:spPr>
            <a:xfrm>
              <a:off x="1196340" y="5516880"/>
              <a:ext cx="6101080" cy="461665"/>
            </a:xfrm>
            <a:prstGeom prst="rect">
              <a:avLst/>
            </a:prstGeom>
            <a:noFill/>
          </p:spPr>
          <p:txBody>
            <a:bodyPr wrap="square">
              <a:spAutoFit/>
            </a:bodyPr>
            <a:lstStyle/>
            <a:p>
              <a:r>
                <a:rPr lang="en-US" sz="2400" b="1" dirty="0">
                  <a:solidFill>
                    <a:srgbClr val="FF0000"/>
                  </a:solidFill>
                </a:rPr>
                <a:t>Pie</a:t>
              </a:r>
              <a:r>
                <a:rPr lang="en-US" sz="1800" b="1" dirty="0">
                  <a:solidFill>
                    <a:srgbClr val="FF0000"/>
                  </a:solidFill>
                </a:rPr>
                <a:t> </a:t>
              </a:r>
              <a:r>
                <a:rPr lang="en-US" sz="2400" b="1" dirty="0">
                  <a:solidFill>
                    <a:srgbClr val="FF0000"/>
                  </a:solidFill>
                </a:rPr>
                <a:t>Chart</a:t>
              </a:r>
              <a:endParaRPr lang="en-IN" sz="2400" b="1" dirty="0">
                <a:solidFill>
                  <a:srgbClr val="FF0000"/>
                </a:solidFill>
              </a:endParaRPr>
            </a:p>
          </p:txBody>
        </p:sp>
      </p:grpSp>
      <p:grpSp>
        <p:nvGrpSpPr>
          <p:cNvPr id="10" name="Group 9">
            <a:extLst>
              <a:ext uri="{FF2B5EF4-FFF2-40B4-BE49-F238E27FC236}">
                <a16:creationId xmlns:a16="http://schemas.microsoft.com/office/drawing/2014/main" id="{F65E7265-453C-E226-634D-7405E10955F1}"/>
              </a:ext>
            </a:extLst>
          </p:cNvPr>
          <p:cNvGrpSpPr/>
          <p:nvPr/>
        </p:nvGrpSpPr>
        <p:grpSpPr>
          <a:xfrm>
            <a:off x="4318000" y="1209040"/>
            <a:ext cx="6698473" cy="4769505"/>
            <a:chOff x="4714240" y="1209040"/>
            <a:chExt cx="6698473" cy="4769505"/>
          </a:xfrm>
        </p:grpSpPr>
        <p:sp>
          <p:nvSpPr>
            <p:cNvPr id="7" name="Rectangle: Folded Corner 6">
              <a:extLst>
                <a:ext uri="{FF2B5EF4-FFF2-40B4-BE49-F238E27FC236}">
                  <a16:creationId xmlns:a16="http://schemas.microsoft.com/office/drawing/2014/main" id="{7B2C1E5C-4C49-2F9B-47B8-CE3DB352DAD6}"/>
                </a:ext>
              </a:extLst>
            </p:cNvPr>
            <p:cNvSpPr/>
            <p:nvPr/>
          </p:nvSpPr>
          <p:spPr>
            <a:xfrm>
              <a:off x="4714240" y="1209040"/>
              <a:ext cx="3352800" cy="4165600"/>
            </a:xfrm>
            <a:prstGeom prst="foldedCorner">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BAB15C50-E26F-AB73-1C98-97DE9B203C12}"/>
                </a:ext>
              </a:extLst>
            </p:cNvPr>
            <p:cNvSpPr txBox="1"/>
            <p:nvPr/>
          </p:nvSpPr>
          <p:spPr>
            <a:xfrm>
              <a:off x="5311633" y="5516880"/>
              <a:ext cx="6101080" cy="461665"/>
            </a:xfrm>
            <a:prstGeom prst="rect">
              <a:avLst/>
            </a:prstGeom>
            <a:noFill/>
          </p:spPr>
          <p:txBody>
            <a:bodyPr wrap="square">
              <a:spAutoFit/>
            </a:bodyPr>
            <a:lstStyle/>
            <a:p>
              <a:r>
                <a:rPr lang="en-US" sz="2400" b="1" dirty="0">
                  <a:solidFill>
                    <a:srgbClr val="FF0000"/>
                  </a:solidFill>
                </a:rPr>
                <a:t>Histogram</a:t>
              </a:r>
              <a:endParaRPr lang="en-IN" sz="2400" b="1" dirty="0">
                <a:solidFill>
                  <a:srgbClr val="FF0000"/>
                </a:solidFill>
              </a:endParaRPr>
            </a:p>
          </p:txBody>
        </p:sp>
      </p:grpSp>
      <p:grpSp>
        <p:nvGrpSpPr>
          <p:cNvPr id="14" name="Group 13">
            <a:extLst>
              <a:ext uri="{FF2B5EF4-FFF2-40B4-BE49-F238E27FC236}">
                <a16:creationId xmlns:a16="http://schemas.microsoft.com/office/drawing/2014/main" id="{348A7C03-158B-7E43-A620-803D6A11825F}"/>
              </a:ext>
            </a:extLst>
          </p:cNvPr>
          <p:cNvGrpSpPr/>
          <p:nvPr/>
        </p:nvGrpSpPr>
        <p:grpSpPr>
          <a:xfrm>
            <a:off x="8138160" y="1209040"/>
            <a:ext cx="7104380" cy="4627265"/>
            <a:chOff x="8138160" y="1209040"/>
            <a:chExt cx="7104380" cy="4627265"/>
          </a:xfrm>
        </p:grpSpPr>
        <p:sp>
          <p:nvSpPr>
            <p:cNvPr id="11" name="Rectangle: Folded Corner 10">
              <a:extLst>
                <a:ext uri="{FF2B5EF4-FFF2-40B4-BE49-F238E27FC236}">
                  <a16:creationId xmlns:a16="http://schemas.microsoft.com/office/drawing/2014/main" id="{F6287CB9-EE90-6B84-AE44-792FE54015FA}"/>
                </a:ext>
              </a:extLst>
            </p:cNvPr>
            <p:cNvSpPr/>
            <p:nvPr/>
          </p:nvSpPr>
          <p:spPr>
            <a:xfrm>
              <a:off x="8138160" y="1209040"/>
              <a:ext cx="3169920" cy="4165600"/>
            </a:xfrm>
            <a:prstGeom prst="foldedCorner">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A9AB4ED6-65F5-1F6A-8D77-9EB4052A40B3}"/>
                </a:ext>
              </a:extLst>
            </p:cNvPr>
            <p:cNvSpPr txBox="1"/>
            <p:nvPr/>
          </p:nvSpPr>
          <p:spPr>
            <a:xfrm>
              <a:off x="9141460" y="5374640"/>
              <a:ext cx="6101080" cy="461665"/>
            </a:xfrm>
            <a:prstGeom prst="rect">
              <a:avLst/>
            </a:prstGeom>
            <a:noFill/>
          </p:spPr>
          <p:txBody>
            <a:bodyPr wrap="square">
              <a:spAutoFit/>
            </a:bodyPr>
            <a:lstStyle/>
            <a:p>
              <a:r>
                <a:rPr lang="en-US" sz="2400" b="1" dirty="0">
                  <a:solidFill>
                    <a:srgbClr val="FF0000"/>
                  </a:solidFill>
                </a:rPr>
                <a:t>Box plot</a:t>
              </a:r>
              <a:endParaRPr lang="en-IN" sz="2400" b="1" dirty="0">
                <a:solidFill>
                  <a:srgbClr val="FF0000"/>
                </a:solidFill>
              </a:endParaRPr>
            </a:p>
          </p:txBody>
        </p:sp>
      </p:grpSp>
    </p:spTree>
    <p:extLst>
      <p:ext uri="{BB962C8B-B14F-4D97-AF65-F5344CB8AC3E}">
        <p14:creationId xmlns:p14="http://schemas.microsoft.com/office/powerpoint/2010/main" val="344341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9E00BA-A016-079C-930C-1BF9F26DFE07}"/>
              </a:ext>
            </a:extLst>
          </p:cNvPr>
          <p:cNvSpPr txBox="1"/>
          <p:nvPr/>
        </p:nvSpPr>
        <p:spPr>
          <a:xfrm>
            <a:off x="3149600" y="2921168"/>
            <a:ext cx="7792720" cy="1107996"/>
          </a:xfrm>
          <a:prstGeom prst="rect">
            <a:avLst/>
          </a:prstGeom>
          <a:noFill/>
        </p:spPr>
        <p:txBody>
          <a:bodyPr wrap="square" rtlCol="0">
            <a:spAutoFit/>
          </a:bodyPr>
          <a:lstStyle/>
          <a:p>
            <a:r>
              <a:rPr lang="en-US" sz="6600" b="1" dirty="0">
                <a:solidFill>
                  <a:schemeClr val="accent2">
                    <a:lumMod val="50000"/>
                  </a:schemeClr>
                </a:solidFill>
                <a:latin typeface="Arial Black" panose="020B0A04020102020204" pitchFamily="34" charset="0"/>
              </a:rPr>
              <a:t>Thank You</a:t>
            </a:r>
            <a:endParaRPr lang="en-IN" sz="6600" b="1" dirty="0">
              <a:solidFill>
                <a:schemeClr val="accent2">
                  <a:lumMod val="50000"/>
                </a:schemeClr>
              </a:solidFill>
              <a:latin typeface="Arial Black" panose="020B0A04020102020204" pitchFamily="34" charset="0"/>
            </a:endParaRPr>
          </a:p>
        </p:txBody>
      </p:sp>
    </p:spTree>
    <p:extLst>
      <p:ext uri="{BB962C8B-B14F-4D97-AF65-F5344CB8AC3E}">
        <p14:creationId xmlns:p14="http://schemas.microsoft.com/office/powerpoint/2010/main" val="40836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720</TotalTime>
  <Words>772</Words>
  <Application>Microsoft Office PowerPoint</Application>
  <PresentationFormat>Widescreen</PresentationFormat>
  <Paragraphs>74</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 Black</vt:lpstr>
      <vt:lpstr>Calibri</vt:lpstr>
      <vt:lpstr>Google Sans</vt:lpstr>
      <vt:lpstr>Times New Roman</vt:lpstr>
      <vt:lpstr>Tomorrow</vt:lpstr>
      <vt:lpstr>Trebuchet MS</vt:lpstr>
      <vt:lpstr>Wingdings 3</vt:lpstr>
      <vt:lpstr>Facet</vt:lpstr>
      <vt:lpstr>             THE NATIONAL DEGREE COLLEGE BAGEPALLI-561207</vt:lpstr>
      <vt:lpstr>Agenda</vt:lpstr>
      <vt:lpstr>Abstract</vt:lpstr>
      <vt:lpstr>Importance of Rainfall Prediction </vt:lpstr>
      <vt:lpstr>Problem Definition</vt:lpstr>
      <vt:lpstr>Introduction</vt:lpstr>
      <vt:lpstr>Methodology</vt:lpstr>
      <vt:lpstr>Hardware and Software Requirements of Rainfall Prediction</vt:lpstr>
      <vt:lpstr>Conclusion</vt:lpstr>
      <vt:lpstr>Fucture Enhancement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Bharath L</dc:creator>
  <cp:lastModifiedBy>bharath k</cp:lastModifiedBy>
  <cp:revision>7</cp:revision>
  <dcterms:created xsi:type="dcterms:W3CDTF">2024-06-05T14:33:34Z</dcterms:created>
  <dcterms:modified xsi:type="dcterms:W3CDTF">2024-06-25T14:26:52Z</dcterms:modified>
</cp:coreProperties>
</file>